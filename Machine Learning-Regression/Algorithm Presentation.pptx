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60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32959-3B63-7F40-83B7-1EA97D49EB6A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61608-6766-794E-B82E-963D159F4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4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61608-6766-794E-B82E-963D159F45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9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1E3EF-13C4-BD2C-D809-807BB4E540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90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43500" y="3190875"/>
            <a:ext cx="1905000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4078" y="2505075"/>
            <a:ext cx="1104385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1F497D"/>
                </a:solidFill>
                <a:latin typeface="Arial"/>
              </a:rPr>
              <a:t>Introduction to AdaBoost</a:t>
            </a:r>
            <a:r>
              <a:rPr lang="en-US" sz="3200" b="1" i="0" u="none" dirty="0">
                <a:solidFill>
                  <a:srgbClr val="1F497D"/>
                </a:solidFill>
                <a:latin typeface="Arial"/>
              </a:rPr>
              <a:t>, XG Boosting and LG Boosting</a:t>
            </a:r>
            <a:endParaRPr sz="3200" b="1" i="0" u="none" dirty="0">
              <a:solidFill>
                <a:srgbClr val="1F49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86475" y="2724150"/>
            <a:ext cx="5486400" cy="1685925"/>
          </a:xfrm>
          <a:prstGeom prst="roundRect">
            <a:avLst>
              <a:gd name="adj" fmla="val 3278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What is AdaBoost?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9028" y="3448050"/>
            <a:ext cx="65412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Key Term: Weak 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0706" y="3695700"/>
            <a:ext cx="6357937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A simple classifier that performs slightly better than random </a:t>
            </a:r>
            <a:endParaRPr lang="en-US" sz="1350" b="0" i="0" u="none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guessing (e.g., a 1-split Decision Tree).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717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Short for Adaptive Boosting: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A popular Machine Learning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099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Ensemble Method: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Combines multiple weak models to build a single strong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481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Adaptive Learning: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Learns from previous mistakes by giving more weight to misclassified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24765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31813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38862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45910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4765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1813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8862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45910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How AdaBoost Works (Step-by-Step)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6289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7375" y="2652712"/>
            <a:ext cx="46583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Assign equal weight to all data points at the start.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3337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375" y="3357562"/>
            <a:ext cx="57216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Train a simple weak model (Decision Stump) on the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0386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4062412"/>
            <a:ext cx="50625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Increase weights for incorrectly classified data 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7434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7375" y="4767262"/>
            <a:ext cx="63378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Repeat the process and combine all models for the final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2286000"/>
            <a:ext cx="542925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09825"/>
            <a:ext cx="518160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Decision Stumps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952750"/>
            <a:ext cx="6191250" cy="34290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A Decision Stump is a Decision Tree with only </a:t>
            </a:r>
            <a:r>
              <a:rPr sz="1500" b="1" i="0" u="none">
                <a:solidFill>
                  <a:srgbClr val="333333"/>
                </a:solidFill>
                <a:latin typeface="Calibri"/>
              </a:rPr>
              <a:t>one split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09950"/>
            <a:ext cx="6191250" cy="34290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It makes a decision based on just </a:t>
            </a:r>
            <a:r>
              <a:rPr sz="1500" b="1" i="0" u="none">
                <a:solidFill>
                  <a:srgbClr val="333333"/>
                </a:solidFill>
                <a:latin typeface="Calibri"/>
              </a:rPr>
              <a:t>one single feature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671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AdaBoost combines dozens of these simple stumps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EDF2F8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FBE5D6"/>
          </a:solidFill>
          <a:ln w="9525">
            <a:solidFill>
              <a:srgbClr val="F7C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7250" y="1866900"/>
            <a:ext cx="4848225" cy="9525"/>
          </a:xfrm>
          <a:prstGeom prst="rect">
            <a:avLst/>
          </a:prstGeom>
          <a:solidFill>
            <a:srgbClr val="B8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6525" y="1866900"/>
            <a:ext cx="4848225" cy="9525"/>
          </a:xfrm>
          <a:prstGeom prst="rect">
            <a:avLst/>
          </a:prstGeom>
          <a:solidFill>
            <a:srgbClr val="F7C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Advantages &amp; Disadvantages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14" y="1543050"/>
            <a:ext cx="63632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4885" y="1543050"/>
            <a:ext cx="631150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C65911"/>
                </a:solidFill>
                <a:latin typeface="Calibri"/>
              </a:rPr>
              <a:t>Disadvantages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02787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02882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Easy to understand and implement.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39741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39836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Dramatically improves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76695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276790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Less prone to overfitting in clean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202787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02882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Sensitive to noisy data and outliers.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239741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39836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Requires clean data preprocessing.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276695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76790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Slower training compared to single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86475" y="3190875"/>
            <a:ext cx="5486400" cy="1276350"/>
          </a:xfrm>
          <a:prstGeom prst="roundRect">
            <a:avLst>
              <a:gd name="adj" fmla="val 2985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What is XGBoost?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9028" y="3390900"/>
            <a:ext cx="65412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Core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0706" y="3752850"/>
            <a:ext cx="6357937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Instead of building one complex model, train multiple simple </a:t>
            </a:r>
            <a:endParaRPr lang="en-US" sz="1350" b="0" i="0" u="none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decision trees step-by-step to correct past mistakes.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717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Extreme Gradient Boosting: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An advanced machine learning library built for efficiency and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099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Gradient Boosting Framework: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Builds decision trees sequentially to minimize remaining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4815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Industry Standard: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Widely used in Kaggle competitions and real-world enterprise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24765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31813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38862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45910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4765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1813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8862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45910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How XGBoost Works (Step-by-Step)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6289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7375" y="2652712"/>
            <a:ext cx="594456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Start with an initial base prediction (e.g., average target value).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3337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375" y="3357562"/>
            <a:ext cx="55749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Calculate residuals (actual values minus predicted values).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0386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4062412"/>
            <a:ext cx="51580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Fit a new decision tree to predict these residual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7434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7375" y="4767262"/>
            <a:ext cx="745796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Add the new tree to the ensemble and repeat until target accuracy is achieved.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2286000"/>
            <a:ext cx="542925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09825"/>
            <a:ext cx="518160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Tree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098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Combines predictions from multiple weak trees into one strong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099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Uses </a:t>
            </a:r>
            <a:r>
              <a:rPr sz="1500" b="1" i="0" u="none">
                <a:solidFill>
                  <a:srgbClr val="333333"/>
                </a:solidFill>
                <a:latin typeface="Calibri"/>
              </a:rPr>
              <a:t>learning rate (eta)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to scale down each tree's contribution.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100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Prevents any single tree from dominating the final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614612"/>
          <a:ext cx="10944224" cy="2390775"/>
        </p:xfrm>
        <a:graphic>
          <a:graphicData uri="http://schemas.openxmlformats.org/drawingml/2006/table">
            <a:tbl>
              <a:tblPr/>
              <a:tblGrid>
                <a:gridCol w="328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AdaBoost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Decision Stumps (1-split)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Deeper Decision Trees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Error Correction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Increases sample weights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Fits trees on residual errors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Regularization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No built-in regularization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Built-in L1 &amp; L2 regularization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Speed &amp; Scale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Moderate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Highly optimized &amp; parallelized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AdaBoost vs. XGBoost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EDF2F8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FBE5D6"/>
          </a:solidFill>
          <a:ln w="9525">
            <a:solidFill>
              <a:srgbClr val="F7C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7250" y="1866900"/>
            <a:ext cx="4848225" cy="9525"/>
          </a:xfrm>
          <a:prstGeom prst="rect">
            <a:avLst/>
          </a:prstGeom>
          <a:solidFill>
            <a:srgbClr val="B8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6525" y="1866900"/>
            <a:ext cx="4848225" cy="9525"/>
          </a:xfrm>
          <a:prstGeom prst="rect">
            <a:avLst/>
          </a:prstGeom>
          <a:solidFill>
            <a:srgbClr val="F7C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Advantages &amp; Disadvantages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14" y="1543050"/>
            <a:ext cx="63632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4885" y="1543050"/>
            <a:ext cx="631150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C65911"/>
                </a:solidFill>
                <a:latin typeface="Calibri"/>
              </a:rPr>
              <a:t>Disadvantages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02882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Top-tier accuracy on structured/tabular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39836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Built-in handling of missing data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276790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Fast training with GPU and CPU parallelization.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02882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Requires hyperparameter tuning for best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39836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Less readable than a single decision tree.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76790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Can overfit if learning rate is too high.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86475" y="3190875"/>
            <a:ext cx="5486400" cy="1276350"/>
          </a:xfrm>
          <a:prstGeom prst="roundRect">
            <a:avLst>
              <a:gd name="adj" fmla="val 2985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What is LightGBM?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9028" y="3390900"/>
            <a:ext cx="65412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Core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0706" y="3752850"/>
            <a:ext cx="6357937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Optimize both computational efficiency and memory overhead </a:t>
            </a:r>
            <a:endParaRPr lang="en-US" sz="1350" b="0" i="0" u="none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595959"/>
                </a:solidFill>
                <a:latin typeface="Calibri"/>
              </a:rPr>
              <a:t>while maintaining high modeling accuracy on large-scale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40030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Light Gradient Boosting Machine: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A high-performance gradient boosting framework developed by Microsoft.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38500"/>
            <a:ext cx="4953000" cy="10287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Designed for Efficiency: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Built specifically for fast training speed and lower memory usage on huge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19600"/>
            <a:ext cx="495300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Leaf-Wise Tree Growth: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Splits nodes based on maximum loss reduction rather than level by level.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24765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31813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388620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4591050"/>
            <a:ext cx="1095375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4765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1813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88620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4591050"/>
            <a:ext cx="57150" cy="5524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How LightGBM Works (Step-by-Step)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6289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7375" y="2652712"/>
            <a:ext cx="72546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Convert continuous feature values into discrete bins to construct histograms.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3337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375" y="3357562"/>
            <a:ext cx="68494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Filter data instances using Gradient-Based One-Side Sampling (GOSS).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03860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4062412"/>
            <a:ext cx="571797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Bundle mutually exclusive sparse features together via EFB.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743450"/>
            <a:ext cx="1238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497D"/>
                </a:solidFill>
                <a:latin typeface="Calibri"/>
              </a:rPr>
              <a:t>Step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7375" y="4767262"/>
            <a:ext cx="67301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3333"/>
                </a:solidFill>
                <a:latin typeface="Calibri"/>
              </a:rPr>
              <a:t>Grow trees leaf-wise by splitting the leaf with the largest loss reduction.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2286000"/>
            <a:ext cx="542925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09825"/>
            <a:ext cx="518160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Leaf-Wise vs. Level-Wise Tree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098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Traditional (Level-Wise):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Grows the tree balanced layer by layer across all leaves.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099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1" i="0" u="none">
                <a:solidFill>
                  <a:srgbClr val="333333"/>
                </a:solidFill>
                <a:latin typeface="Calibri"/>
              </a:rPr>
              <a:t>LightGBM (Leaf-Wise):</a:t>
            </a:r>
            <a:r>
              <a:rPr sz="1500" b="0" i="0" u="none">
                <a:solidFill>
                  <a:srgbClr val="333333"/>
                </a:solidFill>
                <a:latin typeface="Calibri"/>
              </a:rPr>
              <a:t> Expands only the leaf node that produces the largest error drop.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10050"/>
            <a:ext cx="5048250" cy="6858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>
                <a:solidFill>
                  <a:srgbClr val="333333"/>
                </a:solidFill>
                <a:latin typeface="Calibri"/>
              </a:rPr>
              <a:t>Achieves lower overall loss faster than level-wise tree growth.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614612"/>
          <a:ext cx="10944224" cy="2390775"/>
        </p:xfrm>
        <a:graphic>
          <a:graphicData uri="http://schemas.openxmlformats.org/drawingml/2006/table">
            <a:tbl>
              <a:tblPr/>
              <a:tblGrid>
                <a:gridCol w="328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Tree Growth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Level-Wise (Depth-Wise)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Leaf-Wise (Best-First)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Training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Fast on medium datasets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Extremely fast on massive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Memory Consumption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Higher RAM usage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Lower RAM usage (Histograms)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Calibri"/>
                        </a:rPr>
                        <a:t>Small Dataset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Handles small data well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Calibri"/>
                        </a:rPr>
                        <a:t>Can overfit on very small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XGBoost vs. LightGBM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942975"/>
            <a:ext cx="10953750" cy="190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EDF2F8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304925"/>
            <a:ext cx="5324475" cy="5086350"/>
          </a:xfrm>
          <a:prstGeom prst="roundRect">
            <a:avLst>
              <a:gd name="adj" fmla="val 749"/>
            </a:avLst>
          </a:prstGeom>
          <a:solidFill>
            <a:srgbClr val="FBE5D6"/>
          </a:solidFill>
          <a:ln w="9525">
            <a:solidFill>
              <a:srgbClr val="F7C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7250" y="1866900"/>
            <a:ext cx="4848225" cy="9525"/>
          </a:xfrm>
          <a:prstGeom prst="rect">
            <a:avLst/>
          </a:prstGeom>
          <a:solidFill>
            <a:srgbClr val="B8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6525" y="1866900"/>
            <a:ext cx="4848225" cy="9525"/>
          </a:xfrm>
          <a:prstGeom prst="rect">
            <a:avLst/>
          </a:prstGeom>
          <a:solidFill>
            <a:srgbClr val="F7C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9125" y="466725"/>
            <a:ext cx="11572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F497D"/>
                </a:solidFill>
                <a:latin typeface="Arial"/>
              </a:rPr>
              <a:t>Advantages &amp; Disadvantages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14" y="1543050"/>
            <a:ext cx="63632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497D"/>
                </a:solidFill>
                <a:latin typeface="Calibr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4885" y="1543050"/>
            <a:ext cx="631150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C65911"/>
                </a:solidFill>
                <a:latin typeface="Calibri"/>
              </a:rPr>
              <a:t>Disadvantages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02882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Rapid training speeds on large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39836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Low memory footprint due to binning.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2767905"/>
            <a:ext cx="5822156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Native handling of categorical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02882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Prone to overfitting on small datasets (&lt; 10k rows).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39836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Sensitive to hyperparameters (e.g., max_depth).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767905"/>
            <a:ext cx="5514975" cy="27429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3333"/>
                </a:solidFill>
                <a:latin typeface="Calibri"/>
              </a:rPr>
              <a:t>Leaf-wise growth can produce complex, deep trees.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777</Words>
  <Application>Microsoft Macintosh PowerPoint</Application>
  <PresentationFormat>Widescreen</PresentationFormat>
  <Paragraphs>127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Sabarinath T</cp:lastModifiedBy>
  <cp:revision>4</cp:revision>
  <dcterms:created xsi:type="dcterms:W3CDTF">2013-01-27T09:14:16Z</dcterms:created>
  <dcterms:modified xsi:type="dcterms:W3CDTF">2026-10-18T04:27:41Z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b38978-bbcb-47d3-bd01-89bd4930a1a8_Enabled">
    <vt:lpwstr>true</vt:lpwstr>
  </property>
  <property fmtid="{D5CDD505-2E9C-101B-9397-08002B2CF9AE}" pid="3" name="MSIP_Label_70b38978-bbcb-47d3-bd01-89bd4930a1a8_SetDate">
    <vt:lpwstr>2026-10-18T04:16:45Z</vt:lpwstr>
  </property>
  <property fmtid="{D5CDD505-2E9C-101B-9397-08002B2CF9AE}" pid="4" name="MSIP_Label_70b38978-bbcb-47d3-bd01-89bd4930a1a8_Method">
    <vt:lpwstr>Privileged</vt:lpwstr>
  </property>
  <property fmtid="{D5CDD505-2E9C-101B-9397-08002B2CF9AE}" pid="5" name="MSIP_Label_70b38978-bbcb-47d3-bd01-89bd4930a1a8_Name">
    <vt:lpwstr>Internal</vt:lpwstr>
  </property>
  <property fmtid="{D5CDD505-2E9C-101B-9397-08002B2CF9AE}" pid="6" name="MSIP_Label_70b38978-bbcb-47d3-bd01-89bd4930a1a8_SiteId">
    <vt:lpwstr>8ce6dfd4-5866-4fdb-90d0-fb4a65d44617</vt:lpwstr>
  </property>
  <property fmtid="{D5CDD505-2E9C-101B-9397-08002B2CF9AE}" pid="7" name="MSIP_Label_70b38978-bbcb-47d3-bd01-89bd4930a1a8_ActionId">
    <vt:lpwstr>04ba216b-88d5-438b-997b-53b74f81635b</vt:lpwstr>
  </property>
  <property fmtid="{D5CDD505-2E9C-101B-9397-08002B2CF9AE}" pid="8" name="MSIP_Label_70b38978-bbcb-47d3-bd01-89bd4930a1a8_ContentBits">
    <vt:lpwstr>2</vt:lpwstr>
  </property>
  <property fmtid="{D5CDD505-2E9C-101B-9397-08002B2CF9AE}" pid="9" name="MSIP_Label_70b38978-bbcb-47d3-bd01-89bd4930a1a8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Use</vt:lpwstr>
  </property>
</Properties>
</file>